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POSTECH DTAT  ·  Fase 5  ·  Datathon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Passos Mágicos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DADE8"/>
                </a:solidFill>
              </a:rPr>
              <a:t>Análise de Impacto Educacional
e Modelo Preditivo de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Renato Ferreira  RM 384836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343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81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02005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35838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371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Embu-Guaçu · SP
2020 —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1.349
alunos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3 anos de dados
69 variáveis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que é o Passos Mágicos?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ONG fundada em 1992 · Embu-Guaçu,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6537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Apoia crianças e jovens em situação de vulnerabilidade 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957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6537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Desenvolvimento educacional, psicossocial e psicopedagógico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797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79776"/>
            <a:ext cx="6537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Alunos classificados em 4 fases (Pedras): Quartzo → Ágata → Ametista → Topázio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6382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63824"/>
            <a:ext cx="6537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Programa de bolsas em instituições parceiras para os melhores desempenhos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371600"/>
            <a:ext cx="256032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560320" cy="7315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8" y="1481328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Alunos analisados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719072"/>
            <a:ext cx="2340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1.349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240280"/>
            <a:ext cx="2340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registros no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926080"/>
            <a:ext cx="256032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2926080"/>
            <a:ext cx="256032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3035808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Indicadores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3273552"/>
            <a:ext cx="2340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 + INDE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8" y="3794760"/>
            <a:ext cx="2340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IAN, IDA, IEG, IAA, IPS, IPP, IPV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4480560"/>
            <a:ext cx="256032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4480560"/>
            <a:ext cx="256032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8" y="4590288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Perguntas respondidas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4828032"/>
            <a:ext cx="2340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5349240"/>
            <a:ext cx="2340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análise completa P1–P11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❝ Transformar a vida de crianças e
jovens através da educação 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OS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Base de dados educacional longitudinal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097280" cy="384048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09344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554480"/>
            <a:ext cx="5029200" cy="384048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16093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Descrição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554480"/>
            <a:ext cx="1645920" cy="384048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60934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Peso no INDE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38528"/>
            <a:ext cx="109728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9339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938528"/>
            <a:ext cx="502920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99339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Adequação de Nível (alinhamento curricular)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938528"/>
            <a:ext cx="164592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199339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Baixo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22576"/>
            <a:ext cx="109728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37744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2322576"/>
            <a:ext cx="502920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237744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Desempenho Acadêmico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322576"/>
            <a:ext cx="164592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3774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9C12"/>
                </a:solidFill>
              </a:rPr>
              <a:t>Alto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06624"/>
            <a:ext cx="109728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76148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IEG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2706624"/>
            <a:ext cx="502920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276148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Engajamento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706624"/>
            <a:ext cx="164592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27614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90672"/>
            <a:ext cx="109728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14553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IAA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3090672"/>
            <a:ext cx="502920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31455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Autoavaliação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090672"/>
            <a:ext cx="164592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3145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Médio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74720"/>
            <a:ext cx="109728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529584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4480" y="3474720"/>
            <a:ext cx="502920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7632" y="352958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Aspectos Psicossociais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474720"/>
            <a:ext cx="164592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52958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Médio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858768"/>
            <a:ext cx="109728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391363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54480" y="3858768"/>
            <a:ext cx="502920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27632" y="39136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Aspectos Psicopedagógicos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858768"/>
            <a:ext cx="1645920" cy="384048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48272" y="39136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Médio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242816"/>
            <a:ext cx="109728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29768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IPV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54480" y="4242816"/>
            <a:ext cx="502920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27632" y="42976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Ponto de Virada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242816"/>
            <a:ext cx="1645920" cy="38404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48272" y="42976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035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39C12"/>
                </a:solidFill>
              </a:rPr>
              <a:t>★  IDA é o indicador mais correlacionado com INDE (Spearman r = 0.82)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1554480"/>
            <a:ext cx="3383280" cy="256032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10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⚠ Atenção metodológica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21031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210312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2022: 30 colunas vs 18 em 2020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24505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245059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IDA_2022 = média de provas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279806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279806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IDA_2020/21 = avaliação pedagógica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9640" y="314553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9680" y="31455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Comparações cruzadas com cautela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PERGUNTA 8 — INDE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INDE discrimina as Pedras com precisão estatística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30352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C71"/>
                </a:solidFill>
              </a:rPr>
              <a:t>Kruskal-Wallis  H = 777,16   p ≈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O índice composto cumpre sua função classificatória com altíssima significância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65176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26517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Quartzo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1821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70332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INDE médio 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834640"/>
            <a:ext cx="265176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2834640"/>
            <a:ext cx="26517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944368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Ágata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1821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6.97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70332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INDE médio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834640"/>
            <a:ext cx="265176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834640"/>
            <a:ext cx="265176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2944368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Ametista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1821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70332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INDE médio 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834640"/>
            <a:ext cx="265176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2834640"/>
            <a:ext cx="265176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9408" y="2944368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Topázio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31821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9.01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370332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INDE médio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Correlações Spearman com INDE (2022)  —  todos significativos p &lt; 0.001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0749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IDA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111496"/>
            <a:ext cx="597651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6638" y="50749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31723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IEG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353812"/>
            <a:ext cx="5427878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7998" y="531723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0.742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5595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IPP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596128"/>
            <a:ext cx="4308652" cy="18288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68772" y="55595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8018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IPV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838444"/>
            <a:ext cx="4593945" cy="18288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54065" y="58018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0.628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04418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IAA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6080759"/>
            <a:ext cx="3467404" cy="18288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7524" y="604418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2865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IPS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6323076"/>
            <a:ext cx="2399385" cy="18288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59505" y="62865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0.328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28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IAN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6565392"/>
            <a:ext cx="3101644" cy="18288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1764" y="652881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ACHADO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IDA é o principal motor do INDE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0"/>
                </a:solidFill>
              </a:rPr>
              <a:t>Desempenho Acadêmico correlaciona r = 0,82 com INDE — consistente nos 3 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0"/>
                </a:solidFill>
              </a:rPr>
              <a:t>Indicador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01168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0756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0"/>
                </a:solidFill>
              </a:rPr>
              <a:t>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01168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0756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0"/>
                </a:solidFill>
              </a:rPr>
              <a:t>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01168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0756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0"/>
                </a:solidFill>
              </a:rPr>
              <a:t>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14016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780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C12"/>
                </a:solidFill>
              </a:rPr>
              <a:t>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2414016"/>
            <a:ext cx="1645920" cy="402336"/>
          </a:xfrm>
          <a:prstGeom prst="rect">
            <a:avLst/>
          </a:prstGeom>
          <a:solidFill>
            <a:srgbClr val="00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24780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0.740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414016"/>
            <a:ext cx="1645920" cy="402336"/>
          </a:xfrm>
          <a:prstGeom prst="rect">
            <a:avLst/>
          </a:prstGeom>
          <a:solidFill>
            <a:srgbClr val="00B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4780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0.784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414016"/>
            <a:ext cx="1645920" cy="402336"/>
          </a:xfrm>
          <a:prstGeom prst="rect">
            <a:avLst/>
          </a:prstGeom>
          <a:solidFill>
            <a:srgbClr val="00B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4780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16352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88036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IEG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2816352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288036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0.594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816352"/>
            <a:ext cx="1645920" cy="402336"/>
          </a:xfrm>
          <a:prstGeom prst="rect">
            <a:avLst/>
          </a:prstGeom>
          <a:solidFill>
            <a:srgbClr val="00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288036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816352"/>
            <a:ext cx="1645920" cy="402336"/>
          </a:xfrm>
          <a:prstGeom prst="rect">
            <a:avLst/>
          </a:prstGeom>
          <a:solidFill>
            <a:srgbClr val="00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288036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0.742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18688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826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3218688"/>
            <a:ext cx="1645920" cy="402336"/>
          </a:xfrm>
          <a:prstGeom prst="rect">
            <a:avLst/>
          </a:prstGeom>
          <a:solidFill>
            <a:srgbClr val="00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32826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3218688"/>
            <a:ext cx="1645920" cy="402336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32826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218688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32826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0.589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621024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6850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IPV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3621024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560" y="36850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0.552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3621024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36850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0.572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3621024"/>
            <a:ext cx="1645920" cy="402336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36850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0.628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02336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0873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IAA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402336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40873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0.474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402336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0" y="40873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0.480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4023360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0" y="40873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0.474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425696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489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4425696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94560" y="4489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0.398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4425696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0" y="4489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0.316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4425696"/>
            <a:ext cx="1645920" cy="402336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0" y="4489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0.328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828032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89204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4828032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94560" y="489204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0.320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0" y="4828032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0" y="489204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0.247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4828032"/>
            <a:ext cx="1645920" cy="402336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0" y="489204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0.424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98079" y="2011680"/>
            <a:ext cx="4389120" cy="438912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98079" y="2011680"/>
            <a:ext cx="438912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35240" y="2148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ADE8"/>
                </a:solidFill>
              </a:rPr>
              <a:t>O que isso significa?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26517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265176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IDA sobe de r=0,74 para r=0,82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9718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DADE8"/>
                </a:solidFill>
              </a:rPr>
              <a:t>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55280" y="29718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peso crescente ao longo do tempo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32918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80" y="329184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Nenhum indicador é redundante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36118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DADE8"/>
                </a:solidFill>
              </a:rPr>
              <a:t>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80" y="36118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todos contribuem para o INDE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39319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80" y="39319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IAN tem menor correlação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42519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DADE8"/>
                </a:solidFill>
              </a:rPr>
              <a:t>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80" y="425196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(escala discreta: 2,5 / 5 / 10)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51206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★  Melhorar desempenho acadêmico é
a alavanca mais efetiva para o INDE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PERGUNTA 10 — EFETIVIDADE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programa evolui — mas com nuances importantes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46888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4688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6420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INDE médio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01952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7,296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23160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n=727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54480"/>
            <a:ext cx="246888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1554480"/>
            <a:ext cx="24688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66420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INDE médio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901952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6,888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423160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n=684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</a:rPr>
              <a:t>▼ −0,408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554480"/>
            <a:ext cx="246888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1554480"/>
            <a:ext cx="246888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166420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INDE médio 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1901952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7,028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423160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n=862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▲ +0,140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566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Queda em 2021, recuperação parcial em 2022 — não atingiu o nível de 2020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5029200" cy="23774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114800"/>
            <a:ext cx="50292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24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Progressão de Pedra  2020 → 2022  (n=327)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▲  Progrediu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7091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2ECC71"/>
                </a:solidFill>
              </a:rPr>
              <a:t>53,5%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480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→  Manteve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1480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39C12"/>
                </a:solidFill>
              </a:rPr>
              <a:t>27,8%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86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</a:rPr>
              <a:t>▼  Regrediu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58698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74C3C"/>
                </a:solidFill>
              </a:rPr>
              <a:t>18,7%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114800"/>
            <a:ext cx="6217920" cy="23774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0" y="4114800"/>
            <a:ext cx="621792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422452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⚠  Alertas metodológicos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7091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7091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Apenas 23% dos alunos têm dados nos 3 anos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05663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505663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Populações diferentes a cada ano (coorte transversal)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4041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40410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Mudança de metodologia em 2022 pode distorcer comparações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7515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575157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Regressão de Pedra pode refletir revisão de critérios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PERGUNTA 11 — INSIGHT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que realmente seleciona para bolsa?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A tese inicial estava errada — os dados revelaram outra história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42976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30352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✗  Hipótese inicial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IEG seria o principal diferenciador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5351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Escola pública = principal grupo indicado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9242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92424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Mais tempo no programa → maior INDE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920240"/>
            <a:ext cx="5943600" cy="42976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920240"/>
            <a:ext cx="59436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0299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✓  O que os dados mostram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487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Ranking Δ (Indicado − Não indicado):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1º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IPP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+0,987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355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2º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3558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+0,944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8313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3º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3133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ADE8"/>
                </a:solidFill>
              </a:rPr>
              <a:t>IPV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83133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ADE8"/>
                </a:solidFill>
              </a:rPr>
              <a:t>+0,720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3068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8º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068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6E0"/>
                </a:solidFill>
              </a:rPr>
              <a:t>IEG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3068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6E0"/>
                </a:solidFill>
              </a:rPr>
              <a:t>+0,218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3068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74C3C"/>
                </a:solidFill>
              </a:rPr>
              <a:t>← último lugar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864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39C12"/>
                </a:solidFill>
              </a:rPr>
              <a:t>61,4% dos indicados vêm de escola privada  (não pública)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2852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ANOS_PM: Spearman r = −0,075  p = 0,176  → não significativo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PERGUNTA 9 —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Modelo Preditivo de Risco de Defasagem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20116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65760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DADE8"/>
                </a:solidFill>
              </a:rPr>
              <a:t>Configuração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Target: IAN_2022 &lt;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Features: 18 (6 ind. × 2 anos + deltas)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523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5234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Split: 80% treino / 20% holdout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9981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99816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Validação: 5-fold Stratified CV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554480"/>
            <a:ext cx="2560320" cy="384048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1609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554480"/>
            <a:ext cx="1828800" cy="384048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16093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AUC-CV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1554480"/>
            <a:ext cx="1645920" cy="384048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1609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AUC-Holdout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1554480"/>
            <a:ext cx="1645920" cy="384048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97312" y="1609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F1-Holdout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938528"/>
            <a:ext cx="2560320" cy="4572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2" y="2011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938528"/>
            <a:ext cx="1828800" cy="4572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2011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0,802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938528"/>
            <a:ext cx="1645920" cy="4572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51392" y="2011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0,907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1938528"/>
            <a:ext cx="1645920" cy="4572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7312" y="2011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0,889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2395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CC71"/>
                </a:solidFill>
              </a:rPr>
              <a:t>★ selecionado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2322576"/>
            <a:ext cx="256032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9392" y="2395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2322576"/>
            <a:ext cx="182880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2395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0,809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2322576"/>
            <a:ext cx="164592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1392" y="23957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0,866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24160" y="2322576"/>
            <a:ext cx="164592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97312" y="23957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0,879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706624"/>
            <a:ext cx="256032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2779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706624"/>
            <a:ext cx="182880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31152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0,784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78240" y="2706624"/>
            <a:ext cx="164592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51392" y="27797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0,827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60" y="2706624"/>
            <a:ext cx="1645920" cy="457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97312" y="27797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0,879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3108960"/>
            <a:ext cx="7863840" cy="20116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3108960"/>
            <a:ext cx="786384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321868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Top features (Random Forest)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36393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IAN_2021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52160" y="3675888"/>
            <a:ext cx="4572000" cy="201168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42448" y="36393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0.148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43400" y="39136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IAN_2020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3950208"/>
            <a:ext cx="3707027" cy="201168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77475" y="391363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0.120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3400" y="4187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IDA_2021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4224528"/>
            <a:ext cx="3027405" cy="201168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97853" y="41879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0.098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462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DELTA_IAN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0" y="4498848"/>
            <a:ext cx="2687594" cy="201168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58042" y="44622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4736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IPP_2021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4773168"/>
            <a:ext cx="2224216" cy="201168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94664" y="47365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0.072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3749039"/>
            <a:ext cx="3657600" cy="256032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5760" y="3749039"/>
            <a:ext cx="36576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3858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⚠  Limitações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2519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42519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Coorte pequena: 314 alunos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459943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45994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IDA muda metodologia em 2022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49469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49469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Sem validação prospectiva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2943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5294376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→ indicador de direção, não predição de alta confiança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SISTEMA DE RECOMENDAÇÕES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 risco à ação: intervenção preventiva personalizada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468880" cy="164592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4688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🟢  BAIXO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&lt; 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8716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Monitoramento
de rotina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54480"/>
            <a:ext cx="2468880" cy="164592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1554480"/>
            <a:ext cx="246888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🟡  MÉDIO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35–60%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48716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Acompanhamento
reforçado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554480"/>
            <a:ext cx="2468880" cy="164592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554480"/>
            <a:ext cx="24688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</a:rPr>
              <a:t>🔴  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&gt; 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48716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Intervenção
imediata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</a:rPr>
              <a:t>Recomendações por indicador crítico: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86200"/>
            <a:ext cx="182880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8953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IAN baixo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8862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Defasagem curricular — plano de nivelamento por disciplina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15968"/>
            <a:ext cx="182880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3251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IDA baixo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31596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Desempenho em queda — reforço e tutoria individual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45736"/>
            <a:ext cx="182880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7548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IPP baixo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745736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Avaliação psicopedagógica crítica — suporte especializado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175504"/>
            <a:ext cx="182880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1846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IPS adverso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75504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Contexto de vida fragilizado — acionar rede de suporte familiar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05272"/>
            <a:ext cx="182880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561441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ΔIDA negativo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60527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Queda de desempenho — intervenção urgente: revisão de carga e mentoria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35040"/>
            <a:ext cx="182880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60441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ΔIEG negativo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60350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Queda de engajamento — busca ativa do aluno pela coordenação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DEMO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Sistema de Previsão — Streamlit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493776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303520" cy="7315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Input: 6 indicadores × 2 anos (sliders 0–10)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9631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631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Gauge visual com probabilidade de defasagem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95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89504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Nível de risco: BAIXO / MÉDIO / ALTO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8269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8269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Radar chart do perfil do aluno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7588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Barras de evolução por indicador (deltas)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Recomendações priorizadas por criticidade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622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6227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Nota metodológica com limitações explícitas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554480"/>
            <a:ext cx="6035040" cy="20116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1554480"/>
            <a:ext cx="603504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16642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DADE8"/>
                </a:solidFill>
              </a:rPr>
              <a:t>Modelos em produção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057400"/>
            <a:ext cx="283464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0" y="2057400"/>
            <a:ext cx="283464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2167128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Logistic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2404872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AUC 0,907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2926080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principal — interpretável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2057400"/>
            <a:ext cx="301752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0" y="2057400"/>
            <a:ext cx="301752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8" y="2167128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2404872"/>
            <a:ext cx="27980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AUC 0,866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2926080"/>
            <a:ext cx="2798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complementar — feature importance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3749039"/>
            <a:ext cx="6035040" cy="2743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52160" y="3749039"/>
            <a:ext cx="603504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38587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Acesse o app: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3159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share.streamlit.io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GitHub: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285232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ADE8"/>
                </a:solidFill>
              </a:rPr>
              <a:t>github.com/ferreirarenatos7/
datathon-fase5-fiap-passos-magicos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SÍNTESE EXECUTIVA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Tese Central — Revisada pelos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1430000" cy="14630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91440" cy="146304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 programa Passos Mágicos é um mecanismo de mobilidade social mensurável.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Os vetores reais de seleção para bolsas são suporte psicopedagógico (IPP) e desempenho acadêmico (IDA) —
não engajamento (IEG). O programa identifica e amplifica potencial independentemente da origem escolar.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2743200" cy="19202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27432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INDE é robusto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1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Discrimina Pedras com H=777, p≈0.
Função classificatória validada.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200400"/>
            <a:ext cx="2743200" cy="19202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200400"/>
            <a:ext cx="274320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DADE8"/>
                </a:solidFill>
              </a:rPr>
              <a:t>IDA é a alavanca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822191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r=0,82 com INDE. Investir em
desempenho = maior impacto.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00400"/>
            <a:ext cx="2743200" cy="19202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200400"/>
            <a:ext cx="2743200" cy="7315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AB"/>
                </a:solidFill>
              </a:rPr>
              <a:t>IPP &gt; IEG para bolsa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822191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Suporte psicopedagógico diferencia
mais que engajamento (δ +0,987).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3200400"/>
            <a:ext cx="2743200" cy="19202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3200400"/>
            <a:ext cx="27432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Modelo preditivo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3822191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LR AUC=0,907. Permite intervenção
preventiva antes da defasagem.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03520"/>
            <a:ext cx="11430000" cy="118872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13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0"/>
                </a:solidFill>
              </a:rPr>
              <a:t>Rigor metodológico: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5394960"/>
            <a:ext cx="1874519" cy="32004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2" y="5422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Shapiro-Wilk (normalidade)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5394960"/>
            <a:ext cx="1874519" cy="32004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6512" y="5422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Spearman + p-valores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394960"/>
            <a:ext cx="1874519" cy="32004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5422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Kruskal-Wallis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5394960"/>
            <a:ext cx="1874519" cy="32004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2" y="5422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Validação cruzada 5-fold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94960"/>
            <a:ext cx="1874519" cy="32004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1552" y="5422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Holdout independente 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Obrigada!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Renato Ferreira  RM 384836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POSTECH DTAT — Fase 5
Datathon Passos Mágicos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9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GitHub: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ADE8"/>
                </a:solidFill>
              </a:rPr>
              <a:t>github.com/ferreirarenatos7/datathon-fase5-fiap-passos-magicos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BAB"/>
                </a:solidFill>
              </a:rPr>
              <a:t>Streamlit: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ADE8"/>
                </a:solidFill>
              </a:rPr>
              <a:t>App publicado — share.streamlit.io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182880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1828800" cy="73152"/>
          </a:xfrm>
          <a:prstGeom prst="rect">
            <a:avLst/>
          </a:prstGeom>
          <a:solidFill>
            <a:srgbClr val="6C3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39572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perguntas
respondidas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33472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54680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286000"/>
            <a:ext cx="182880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228600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239572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modelo
preditivo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633472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AUC
0,907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3154680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286000"/>
            <a:ext cx="1828800" cy="1371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4160" y="2286000"/>
            <a:ext cx="1828800" cy="731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33888" y="239572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etapas de
validação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3888" y="2633472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3888" y="3154680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303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0"/>
                </a:solidFill>
              </a:rPr>
              <a:t>Passos Mágicos · passosmagicos.org.br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760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"Transformar a vida de crianças e jovens através da educação"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92608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RIGOR ANALITICO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Hipoteses testadas. Conclusoes corrigidas pelos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Validacao estatistica independente identificou 4 divergencias materiais antes da versao final.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4572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011680"/>
            <a:ext cx="502920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011680"/>
            <a:ext cx="50292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84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X  Hipotese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591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IEG = principal diferenciador para bolsas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011680"/>
            <a:ext cx="566928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011680"/>
            <a:ext cx="5669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848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V  O que os dados mostraram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591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IEG e o ultimo (8 lugar). IPP (+0,987) e IDA (+0,944) lideram.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90672"/>
            <a:ext cx="4572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467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090672"/>
            <a:ext cx="502920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090672"/>
            <a:ext cx="50292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1638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X  Hipotese inicial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3814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Mais anos no programa maior INDE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090672"/>
            <a:ext cx="566928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090672"/>
            <a:ext cx="5669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1638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V  O que os dados mostraram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4381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Spearman r=-0,075, p=0,176 nao significativo.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9664"/>
            <a:ext cx="4572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256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169664"/>
            <a:ext cx="502920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" y="4169664"/>
            <a:ext cx="50292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242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X  Hipotese inicial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1713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Escola publica = principal grupo de indicados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169664"/>
            <a:ext cx="566928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169664"/>
            <a:ext cx="5669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2428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V  O que os dados mostraram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51713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61,4% dos indicados vem de escola privada.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48656"/>
            <a:ext cx="4572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504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248656"/>
            <a:ext cx="502920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" y="5248656"/>
            <a:ext cx="50292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321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X  Hipotese inicial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5961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INDE cresceu consistentemente 2020-2022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248656"/>
            <a:ext cx="566928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248656"/>
            <a:ext cx="5669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53218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V  O que os dados mostraram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5961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Queda em 2021 (7,296 -&gt; 6,888), recuperacao parcial em 2022 (7,028).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Todos os testes nao-parametricos (Spearman + Kruskal-Wallis). Nenhum indicador segue distribuicao normal (Shapiro-Wilk p&lt;0,05).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