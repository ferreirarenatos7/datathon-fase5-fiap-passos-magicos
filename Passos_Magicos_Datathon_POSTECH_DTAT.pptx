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0" y="914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0"/>
                </a:solidFill>
              </a:rPr>
              <a:t>POSTECH DTAT  ·  Fase 5  ·  Datathon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5544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Passos Mágicos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5603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5DADE8"/>
                </a:solidFill>
              </a:rPr>
              <a:t>Análise de Impacto Educacional
e Modelo Preditivo de Risco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931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Renato Ferreira  RM 384836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3434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_______________________________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6817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_______________________________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02005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_______________________________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35838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_______________________________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434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13716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Embu-Guaçu · SP
2020 —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7432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1.349
alunos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3 anos de dados
69 variáveis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2286000" cy="347472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 que é o Passos Mágicos?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6E0"/>
                </a:solidFill>
              </a:rPr>
              <a:t>ONG fundada em 1992 · Embu-Guaçu, 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6537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Apoia crianças e jovens em situação de vulnerabilidade social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39572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95728"/>
            <a:ext cx="6537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Desenvolvimento educacional, psicossocial e psicopedagógico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779776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79776"/>
            <a:ext cx="6537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Alunos classificados em 4 fases (Pedras): Quartzo → Ágata → Ametista → Topázio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163824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63824"/>
            <a:ext cx="6537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Programa de bolsas em instituições parceiras para os melhores desempenhos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1371600"/>
            <a:ext cx="256032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0" y="1371600"/>
            <a:ext cx="2560320" cy="73152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4928" y="1481328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Alunos analisados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719072"/>
            <a:ext cx="23408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1.349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2240280"/>
            <a:ext cx="23408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>registros no dataset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2926080"/>
            <a:ext cx="256032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2926080"/>
            <a:ext cx="2560320" cy="7315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4928" y="3035808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Indicadores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4928" y="3273552"/>
            <a:ext cx="23408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7 + INDE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8" y="3794760"/>
            <a:ext cx="23408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>IAN, IDA, IEG, IAA, IPS, IPP, IPV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4480560"/>
            <a:ext cx="256032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4480560"/>
            <a:ext cx="256032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4928" y="4590288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Perguntas respondidas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4928" y="4828032"/>
            <a:ext cx="23408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4928" y="5349240"/>
            <a:ext cx="23408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>análise completa P1–P11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30352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6E0"/>
                </a:solidFill>
              </a:rPr>
              <a:t>❝ Transformar a vida de crianças e
jovens através da educação 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2286000" cy="347472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OS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Base de dados educacional longitudinal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1097280" cy="384048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609344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Indicador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4480" y="1554480"/>
            <a:ext cx="5029200" cy="384048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7632" y="1609344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Descrição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554480"/>
            <a:ext cx="1645920" cy="384048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48272" y="1609344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Peso no INDE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38528"/>
            <a:ext cx="1097280" cy="384048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1993392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1938528"/>
            <a:ext cx="5029200" cy="384048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27632" y="1993392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Adequação de Nível (alinhamento curricular)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1938528"/>
            <a:ext cx="1645920" cy="384048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199339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Baixo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322576"/>
            <a:ext cx="1097280" cy="384048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2377440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54480" y="2322576"/>
            <a:ext cx="5029200" cy="384048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7632" y="237744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Desempenho Acadêmico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322576"/>
            <a:ext cx="1645920" cy="384048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48272" y="2377440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39C12"/>
                </a:solidFill>
              </a:rPr>
              <a:t>Alto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06624"/>
            <a:ext cx="1097280" cy="384048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2761488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IEG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2706624"/>
            <a:ext cx="5029200" cy="384048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27632" y="2761488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Engajamento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706624"/>
            <a:ext cx="1645920" cy="384048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48272" y="276148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090672"/>
            <a:ext cx="1097280" cy="384048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14553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IAA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54480" y="3090672"/>
            <a:ext cx="5029200" cy="384048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3145536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Autoavaliação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3090672"/>
            <a:ext cx="1645920" cy="384048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48272" y="314553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Médio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474720"/>
            <a:ext cx="1097280" cy="384048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3529584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54480" y="3474720"/>
            <a:ext cx="5029200" cy="384048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27632" y="3529584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Aspectos Psicossociais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3474720"/>
            <a:ext cx="1645920" cy="384048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8272" y="3529584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Médio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858768"/>
            <a:ext cx="1097280" cy="384048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913632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IPP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3858768"/>
            <a:ext cx="5029200" cy="384048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27632" y="3913632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Aspectos Psicopedagógicos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3858768"/>
            <a:ext cx="1645920" cy="384048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48272" y="391363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Médio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242816"/>
            <a:ext cx="1097280" cy="384048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4297680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IPV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554480" y="4242816"/>
            <a:ext cx="5029200" cy="384048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27632" y="429768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Ponto de Virada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75120" y="4242816"/>
            <a:ext cx="1645920" cy="384048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48272" y="4297680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0350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39C12"/>
                </a:solidFill>
              </a:rPr>
              <a:t>★  IDA é o indicador mais correlacionado com INDE (Spearman r = 0.82)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1554480"/>
            <a:ext cx="3383280" cy="256032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41080" y="1645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</a:rPr>
              <a:t>⚠ Atenção metodológica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9640" y="210312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0" y="2103120"/>
            <a:ext cx="2971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2022: 30 colunas vs 18 em 2020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49640" y="245059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2450592"/>
            <a:ext cx="2971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IDA_2022 = média de provas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49640" y="2798064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2798064"/>
            <a:ext cx="2971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IDA_2020/21 = avaliação pedagógica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9640" y="3145536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3145536"/>
            <a:ext cx="2971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Comparações cruzadas com cautela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2286000" cy="34747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PERGUNTA 8 — INDE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 INDE discrimina as Pedras com precisão estatística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5303520" cy="109728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530352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CC71"/>
                </a:solidFill>
              </a:rPr>
              <a:t>Kruskal-Wallis  H = 777,16   p ≈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D6E0"/>
                </a:solidFill>
              </a:rPr>
              <a:t>O índice composto cumpre sua função classificatória com altíssima significância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34640"/>
            <a:ext cx="265176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834640"/>
            <a:ext cx="265176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944368"/>
            <a:ext cx="2432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Quartzo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3182112"/>
            <a:ext cx="24323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5.91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703320"/>
            <a:ext cx="24323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>INDE médio 2022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834640"/>
            <a:ext cx="265176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2834640"/>
            <a:ext cx="265176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944368"/>
            <a:ext cx="2432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Ágata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3182112"/>
            <a:ext cx="24323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6.97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3703320"/>
            <a:ext cx="24323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>INDE médio 2022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2834640"/>
            <a:ext cx="265176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2834640"/>
            <a:ext cx="2651760" cy="7315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44768" y="2944368"/>
            <a:ext cx="2432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Ametista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3182112"/>
            <a:ext cx="24323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7.77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3703320"/>
            <a:ext cx="24323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>INDE médio 2022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69680" y="2834640"/>
            <a:ext cx="265176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0" y="2834640"/>
            <a:ext cx="265176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79408" y="2944368"/>
            <a:ext cx="2432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Topázio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9408" y="3182112"/>
            <a:ext cx="24323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9.01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3703320"/>
            <a:ext cx="24323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>INDE médio 2022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D6E0"/>
                </a:solidFill>
              </a:rPr>
              <a:t>Correlações Spearman com INDE (2022)  —  todos significativos p &lt; 0.001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0749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6E0"/>
                </a:solidFill>
              </a:rPr>
              <a:t>IDA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5111496"/>
            <a:ext cx="5976518" cy="1828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6638" y="50749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0.817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317236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6E0"/>
                </a:solidFill>
              </a:rPr>
              <a:t>IEG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353812"/>
            <a:ext cx="5427878" cy="1828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87998" y="5317236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0.742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559552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6E0"/>
                </a:solidFill>
              </a:rPr>
              <a:t>IPP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5596128"/>
            <a:ext cx="4308652" cy="182880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68772" y="5559552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0.589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580186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6E0"/>
                </a:solidFill>
              </a:rPr>
              <a:t>IPV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" y="5838444"/>
            <a:ext cx="4593945" cy="182880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54065" y="5801868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0.628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044183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6E0"/>
                </a:solidFill>
              </a:rPr>
              <a:t>IAA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6080759"/>
            <a:ext cx="3467404" cy="182880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27524" y="6044183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0.474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28650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6E0"/>
                </a:solidFill>
              </a:rPr>
              <a:t>IPS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6323076"/>
            <a:ext cx="2399385" cy="182880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59505" y="62865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528816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D6E0"/>
                </a:solidFill>
              </a:rPr>
              <a:t>IAN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" y="6565392"/>
            <a:ext cx="3101644" cy="182880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61764" y="6528816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0.424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2286000" cy="34747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ACHADO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IDA é o principal motor do INDE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D6E0"/>
                </a:solidFill>
              </a:rPr>
              <a:t>Desempenho Acadêmico correlaciona r = 0,82 com INDE — consistente nos 3 anos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75688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CD6E0"/>
                </a:solidFill>
              </a:rPr>
              <a:t>Indicador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2011680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2075688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CD6E0"/>
                </a:solidFill>
              </a:rPr>
              <a:t>2020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2011680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2075688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CD6E0"/>
                </a:solidFill>
              </a:rPr>
              <a:t>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2011680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2075688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CD6E0"/>
                </a:solidFill>
              </a:rPr>
              <a:t>2022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14016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478024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39C12"/>
                </a:solidFill>
              </a:rPr>
              <a:t>IDA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2414016"/>
            <a:ext cx="1645920" cy="402336"/>
          </a:xfrm>
          <a:prstGeom prst="rect">
            <a:avLst/>
          </a:prstGeom>
          <a:solidFill>
            <a:srgbClr val="00A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4560" y="2478024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0.740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2414016"/>
            <a:ext cx="1645920" cy="402336"/>
          </a:xfrm>
          <a:prstGeom prst="rect">
            <a:avLst/>
          </a:prstGeom>
          <a:solidFill>
            <a:srgbClr val="00B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2478024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0.784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2414016"/>
            <a:ext cx="1645920" cy="402336"/>
          </a:xfrm>
          <a:prstGeom prst="rect">
            <a:avLst/>
          </a:prstGeom>
          <a:solidFill>
            <a:srgbClr val="00B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478024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0.817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16352"/>
            <a:ext cx="1645920" cy="402336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88036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IEG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03120" y="2816352"/>
            <a:ext cx="1645920" cy="402336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94560" y="288036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0.594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0" y="2816352"/>
            <a:ext cx="1645920" cy="402336"/>
          </a:xfrm>
          <a:prstGeom prst="rect">
            <a:avLst/>
          </a:prstGeom>
          <a:solidFill>
            <a:srgbClr val="009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0" y="288036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0.611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2816352"/>
            <a:ext cx="1645920" cy="402336"/>
          </a:xfrm>
          <a:prstGeom prst="rect">
            <a:avLst/>
          </a:prstGeom>
          <a:solidFill>
            <a:srgbClr val="00A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288036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0.742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218688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282696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IPP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03120" y="3218688"/>
            <a:ext cx="1645920" cy="402336"/>
          </a:xfrm>
          <a:prstGeom prst="rect">
            <a:avLst/>
          </a:prstGeom>
          <a:solidFill>
            <a:srgbClr val="009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94560" y="3282696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0.619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0" y="3218688"/>
            <a:ext cx="1645920" cy="402336"/>
          </a:xfrm>
          <a:prstGeom prst="rect">
            <a:avLst/>
          </a:prstGeom>
          <a:solidFill>
            <a:srgbClr val="009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31920" y="3282696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0.612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77840" y="3218688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0" y="3282696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0.589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1024"/>
            <a:ext cx="1645920" cy="402336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3685032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IPV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03120" y="3621024"/>
            <a:ext cx="1645920" cy="402336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94560" y="3685032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0.552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0" y="3621024"/>
            <a:ext cx="1645920" cy="402336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0" y="3685032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0.572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77840" y="3621024"/>
            <a:ext cx="1645920" cy="402336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3685032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0.628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023360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087368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IAA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03120" y="4023360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94560" y="4087368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0.474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0" y="4023360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31920" y="4087368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0.480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0" y="4023360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0" y="4087368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0.474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425696"/>
            <a:ext cx="1645920" cy="402336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4489704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IPS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03120" y="4425696"/>
            <a:ext cx="1645920" cy="402336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194560" y="4489704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0.398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0" y="4425696"/>
            <a:ext cx="1645920" cy="402336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1920" y="4489704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0.316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77840" y="4425696"/>
            <a:ext cx="1645920" cy="402336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0" y="4489704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0.328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4828032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489204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IAN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103120" y="4828032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94560" y="489204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0.320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40480" y="4828032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931920" y="489204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0.247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77840" y="4828032"/>
            <a:ext cx="1645920" cy="402336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0" y="489204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0.424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498079" y="2011680"/>
            <a:ext cx="4389120" cy="438912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98079" y="2011680"/>
            <a:ext cx="4389120" cy="7315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35240" y="214884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DADE8"/>
                </a:solidFill>
              </a:rPr>
              <a:t>O que isso significa?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265176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80" y="2651760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IDA sobe de r=0,74 para r=0,82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97180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DADE8"/>
                </a:solidFill>
              </a:rPr>
              <a:t>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955280" y="2971800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peso crescente ao longo do tempo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329184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55280" y="3291840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Nenhum indicador é redundante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35240" y="361188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DADE8"/>
                </a:solidFill>
              </a:rPr>
              <a:t>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955280" y="3611880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todos contribuem para o INDE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393192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80" y="3931920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IAN tem menor correlação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425196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DADE8"/>
                </a:solidFill>
              </a:rPr>
              <a:t>–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55280" y="4251960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(escala discreta: 2,5 / 5 / 10)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35240" y="51206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</a:rPr>
              <a:t>★  Melhorar desempenho acadêmico é
a alavanca mais efetiva para o INDE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2286000" cy="34747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PERGUNTA 10 — EFETIVIDADE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 programa evolui — mas com nuances importantes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246888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246888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664208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INDE médio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901952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7,296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423160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>n=727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554480"/>
            <a:ext cx="246888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1554480"/>
            <a:ext cx="246888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664208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INDE médio 2021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1901952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6,888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2423160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>n=684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017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74C3C"/>
                </a:solidFill>
              </a:rPr>
              <a:t>▼ −0,408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1554480"/>
            <a:ext cx="246888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52160" y="1554480"/>
            <a:ext cx="246888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1888" y="1664208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INDE médio 2022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1901952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7,028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2423160"/>
            <a:ext cx="22494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>n=862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017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39C12"/>
                </a:solidFill>
              </a:rPr>
              <a:t>▲ +0,140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5661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0"/>
                </a:solidFill>
              </a:rPr>
              <a:t>Queda em 2021, recuperação parcial em 2022 — não atingiu o nível de 2020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114800"/>
            <a:ext cx="5029200" cy="237744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114800"/>
            <a:ext cx="502920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2245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Progressão de Pedra  2020 → 2022  (n=327)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</a:rPr>
              <a:t>▲  Progrediu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70916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2ECC71"/>
                </a:solidFill>
              </a:rPr>
              <a:t>53,5%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14807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C12"/>
                </a:solidFill>
              </a:rPr>
              <a:t>→  Manteve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5148072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F39C12"/>
                </a:solidFill>
              </a:rPr>
              <a:t>27,8%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5869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4C3C"/>
                </a:solidFill>
              </a:rPr>
              <a:t>▼  Regrediu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5586984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E74C3C"/>
                </a:solidFill>
              </a:rPr>
              <a:t>18,7%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114800"/>
            <a:ext cx="6217920" cy="237744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0" y="4114800"/>
            <a:ext cx="621792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06440" y="4224528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</a:rPr>
              <a:t>⚠  Alertas metodológicos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0" y="470916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4709160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Apenas 23% dos alunos têm dados nos 3 anos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0720" y="505663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5056632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Populações diferentes a cada ano (coorte transversal)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0" y="5404104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5404104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Mudança de metodologia em 2022 pode distorcer comparações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0" y="5751576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5751576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Regressão de Pedra pode refletir revisão de critérios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2286000" cy="347472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PERGUNTA 11 — INSIGHT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 que realmente seleciona para bolsa?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4475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D6E0"/>
                </a:solidFill>
              </a:rPr>
              <a:t>A tese inicial estava errada — os dados revelaram outra história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5303520" cy="429768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530352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</a:rPr>
              <a:t>✗  Hipótese inicial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</a:rPr>
              <a:t>IEG seria o principal diferenciador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5351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953512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</a:rPr>
              <a:t>Escola pública = principal grupo indicado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392424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392424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</a:rPr>
              <a:t>Mais tempo no programa → maior INDE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920240"/>
            <a:ext cx="5943600" cy="429768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0" y="1920240"/>
            <a:ext cx="594360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20299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</a:rPr>
              <a:t>✓  O que os dados mostram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4871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Ranking Δ (Indicado − Não indicado):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8803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1º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80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</a:rPr>
              <a:t>IPP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880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</a:rPr>
              <a:t>+0,987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2º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3558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</a:rPr>
              <a:t>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35584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</a:rPr>
              <a:t>+0,944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831335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3º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31335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DADE8"/>
                </a:solidFill>
              </a:rPr>
              <a:t>IPV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831335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DADE8"/>
                </a:solidFill>
              </a:rPr>
              <a:t>+0,720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3068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8º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3068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D6E0"/>
                </a:solidFill>
              </a:rPr>
              <a:t>IEG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430682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D6E0"/>
                </a:solidFill>
              </a:rPr>
              <a:t>+0,218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430682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74C3C"/>
                </a:solidFill>
              </a:rPr>
              <a:t>← último lugar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486460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39C12"/>
                </a:solidFill>
              </a:rPr>
              <a:t>61,4% dos indicados vêm de escola privada  (não pública)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52852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6E0"/>
                </a:solidFill>
              </a:rPr>
              <a:t>ANOS_PM: Spearman r = −0,075  p = 0,176  → não significativo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2286000" cy="34747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PERGUNTA 9 —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Modelo Preditivo de Risco de Defasagem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3657600" cy="201168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3657600" cy="7315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642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DADE8"/>
                </a:solidFill>
              </a:rPr>
              <a:t>Configuração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57400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Target: IAN_2022 &lt;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0487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04872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Features: 18 (6 ind. × 2 anos + deltas)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52344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52344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Split: 80% treino / 20% holdout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099816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099816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Validação: 5-fold Stratified CV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1554480"/>
            <a:ext cx="2560320" cy="384048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9392" y="160934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Modelo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554480"/>
            <a:ext cx="1828800" cy="384048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16093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AUC-CV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1554480"/>
            <a:ext cx="1645920" cy="384048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51392" y="160934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AUC-Holdout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24160" y="1554480"/>
            <a:ext cx="1645920" cy="384048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97312" y="160934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F1-Holdout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1938528"/>
            <a:ext cx="2560320" cy="4572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9392" y="20116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Logistic Regression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1938528"/>
            <a:ext cx="1828800" cy="4572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1152" y="20116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0,802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78240" y="1938528"/>
            <a:ext cx="1645920" cy="4572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51392" y="20116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0,907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1938528"/>
            <a:ext cx="1645920" cy="45720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97312" y="20116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0,889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9392" y="23957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ECC71"/>
                </a:solidFill>
              </a:rPr>
              <a:t>★ selecionado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322576"/>
            <a:ext cx="2560320" cy="4572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3957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Random Forest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2322576"/>
            <a:ext cx="1828800" cy="4572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31152" y="239572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0,809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0" y="2322576"/>
            <a:ext cx="1645920" cy="4572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51392" y="239572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0,866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424160" y="2322576"/>
            <a:ext cx="1645920" cy="4572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97312" y="239572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0,879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6240" y="2706624"/>
            <a:ext cx="2560320" cy="4572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392" y="27797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XGBoost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0" y="2706624"/>
            <a:ext cx="1828800" cy="4572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31152" y="277977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0,784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778240" y="2706624"/>
            <a:ext cx="1645920" cy="4572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51392" y="277977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0,827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424160" y="2706624"/>
            <a:ext cx="1645920" cy="4572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97312" y="277977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0,879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6240" y="3108960"/>
            <a:ext cx="7863840" cy="201168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06240" y="3108960"/>
            <a:ext cx="786384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43400" y="3218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Top features (Random Forest)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43400" y="36393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IAN_2021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52160" y="3675888"/>
            <a:ext cx="4572000" cy="201168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42448" y="363931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43400" y="391363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IAN_2020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52160" y="3950208"/>
            <a:ext cx="3707027" cy="201168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77475" y="391363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0.120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43400" y="4187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IDA_2021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52160" y="4224528"/>
            <a:ext cx="3027405" cy="201168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97853" y="418795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0.098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44622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DELTA_IAN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852160" y="4498848"/>
            <a:ext cx="2687594" cy="201168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58042" y="446227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0.087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43400" y="47365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IPP_2021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852160" y="4773168"/>
            <a:ext cx="2224216" cy="201168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94664" y="473659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0.072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749039"/>
            <a:ext cx="3657600" cy="256032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5760" y="3749039"/>
            <a:ext cx="365760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38587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</a:rPr>
              <a:t>⚠  Limitações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425196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7240" y="4251960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Coorte pequena: 314 alunos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200" y="459943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7240" y="4599432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IDA muda metodologia em 2022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4946904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7240" y="4946904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Sem validação prospectiva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7200" y="5294376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" y="5294376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→ indicador de direção, não predição de alta confiança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2286000" cy="34747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SISTEMA DE RECOMENDAÇÕES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Do risco à ação: intervenção preventiva personalizada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2468880" cy="164592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246888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6916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🟢  BAIXO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103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&lt; 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487168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Monitoramento
de rotina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554480"/>
            <a:ext cx="2468880" cy="164592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1554480"/>
            <a:ext cx="246888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6916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39C12"/>
                </a:solidFill>
              </a:rPr>
              <a:t>🟡  MÉDIO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2103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35–60%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2487168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Acompanhamento
reforçado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554480"/>
            <a:ext cx="2468880" cy="164592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52160" y="1554480"/>
            <a:ext cx="246888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16916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74C3C"/>
                </a:solidFill>
              </a:rPr>
              <a:t>🔴  ALTO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1888" y="2103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&gt; 60%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487168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Intervenção
imediata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3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D6E0"/>
                </a:solidFill>
              </a:rPr>
              <a:t>Recomendações por indicador crítico: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886200"/>
            <a:ext cx="1828800" cy="320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8953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IAN baixo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388620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Defasagem curricular — plano de nivelamento por disciplina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315968"/>
            <a:ext cx="1828800" cy="320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4325112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IDA baixo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4315968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Desempenho em queda — reforço e tutoria individual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745736"/>
            <a:ext cx="1828800" cy="3200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475488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IPP baixo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4745736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Avaliação psicopedagógica crítica — suporte especializado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175504"/>
            <a:ext cx="1828800" cy="320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518464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IPS adverso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5175504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Contexto de vida fragilizado — acionar rede de suporte familiar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605272"/>
            <a:ext cx="1828800" cy="3200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5614416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ΔIDA negativo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5605272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Queda de desempenho — intervenção urgente: revisão de carga e mentoria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035040"/>
            <a:ext cx="1828800" cy="3200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604418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ΔIEG negativo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603504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Queda de engajamento — busca ativa do aluno pela coordenação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2286000" cy="347472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DEMO AO VIVO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Sistema de Previsão — Streamlit 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5303520" cy="493776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5303520" cy="73152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642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3BAB"/>
                </a:solidFill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Input: 6 indicadores × 2 anos (sliders 0–10)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9631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96312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Gauge visual com probabilidade de defasagem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89504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889504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Nível de risco: BAIXO / MÉDIO / ALTO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82696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82696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Radar chart do perfil do aluno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67588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75888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Barras de evolução por indicador (deltas)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069080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69080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Recomendações priorizadas por criticidade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62272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3BAB"/>
                </a:solidFill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462272"/>
            <a:ext cx="4709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Nota metodológica com limitações explícitas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0" y="1554480"/>
            <a:ext cx="6035040" cy="201168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52160" y="1554480"/>
            <a:ext cx="6035040" cy="7315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9320" y="166420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DADE8"/>
                </a:solidFill>
              </a:rPr>
              <a:t>Modelos em produção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2057400"/>
            <a:ext cx="283464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52160" y="2057400"/>
            <a:ext cx="283464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61888" y="2167128"/>
            <a:ext cx="26151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Logistic Regression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61888" y="2404872"/>
            <a:ext cx="26151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AUC 0,907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1888" y="292608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>principal — interpretável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0" y="2057400"/>
            <a:ext cx="301752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0" y="2057400"/>
            <a:ext cx="3017520" cy="7315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87968" y="2167128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Random Forest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87968" y="2404872"/>
            <a:ext cx="27980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AUC 0,866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87968" y="2926080"/>
            <a:ext cx="27980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>complementar — feature importance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2160" y="3749039"/>
            <a:ext cx="6035040" cy="27432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52160" y="3749039"/>
            <a:ext cx="603504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89320" y="38587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</a:rPr>
              <a:t>Acesse o app: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31596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share.streamlit.io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4937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GitHub: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5285232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DADE8"/>
                </a:solidFill>
              </a:rPr>
              <a:t>github.com/ferreirarenatos7/
datathon-fase5-fiap-passos-magicos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74320"/>
            <a:ext cx="2286000" cy="347472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SÍNTESE EXECUTIVA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772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Tese Central — Revisada pelos Dados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11430000" cy="146304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54480"/>
            <a:ext cx="91440" cy="146304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O programa Passos Mágicos é um mecanismo de mobilidade social mensurável.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0"/>
                </a:solidFill>
              </a:rPr>
              <a:t>Os vetores reais de seleção para bolsas são suporte psicopedagógico (IPP) e desempenho acadêmico (IDA) —
não engajamento (IEG). O programa identifica e amplifica potencial independentemente da origem escolar.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200400"/>
            <a:ext cx="2743200" cy="192024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200400"/>
            <a:ext cx="274320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33375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</a:rPr>
              <a:t>INDE é robusto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3822191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Discrimina Pedras com H=777, p≈0.
Função classificatória validada.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200400"/>
            <a:ext cx="2743200" cy="192024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3200400"/>
            <a:ext cx="2743200" cy="7315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33375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DADE8"/>
                </a:solidFill>
              </a:rPr>
              <a:t>IDA é a alavanca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3822191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r=0,82 com INDE. Investir em
desempenho = maior impacto.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200400"/>
            <a:ext cx="2743200" cy="192024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3200400"/>
            <a:ext cx="2743200" cy="73152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3375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3BAB"/>
                </a:solidFill>
              </a:rPr>
              <a:t>IPP &gt; IEG para bolsa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822191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Suporte psicopedagógico diferencia
mais que engajamento (δ +0,987).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3200400"/>
            <a:ext cx="2743200" cy="192024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1160" y="3200400"/>
            <a:ext cx="274320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90888" y="33375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</a:rPr>
              <a:t>Modelo preditivo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0888" y="3822191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LR AUC=0,907. Permite intervenção
preventiva antes da defasagem.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303520"/>
            <a:ext cx="11430000" cy="118872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4132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D6E0"/>
                </a:solidFill>
              </a:rPr>
              <a:t>Rigor metodológico: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5394960"/>
            <a:ext cx="1874519" cy="32004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4832" y="542239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Shapiro-Wilk (normalidade)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5394960"/>
            <a:ext cx="1874519" cy="32004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96512" y="542239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Spearman + p-valores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5394960"/>
            <a:ext cx="1874519" cy="32004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542239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Kruskal-Wallis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5394960"/>
            <a:ext cx="1874519" cy="32004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19872" y="542239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Validação cruzada 5-fold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58400" y="5394960"/>
            <a:ext cx="1874519" cy="32004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31552" y="542239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Holdout independente 20%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Obrigada!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Renato Ferreira  RM 384836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71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______________________________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291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______________________________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611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______________________________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______________________________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004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</a:rPr>
              <a:t>POSTECH DTAT — Fase 5
Datathon Passos Mágicos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3BAB"/>
                </a:solidFill>
              </a:rPr>
              <a:t>GitHub: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389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DADE8"/>
                </a:solidFill>
              </a:rPr>
              <a:t>github.com/ferreirarenatos7/datathon-fase5-fiap-passos-magicos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0292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3BAB"/>
                </a:solidFill>
              </a:rPr>
              <a:t>Streamlit: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029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DADE8"/>
                </a:solidFill>
              </a:rPr>
              <a:t>App publicado — share.streamlit.io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286000"/>
            <a:ext cx="182880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286000"/>
            <a:ext cx="1828800" cy="73152"/>
          </a:xfrm>
          <a:prstGeom prst="rect">
            <a:avLst/>
          </a:prstGeom>
          <a:solidFill>
            <a:srgbClr val="6C3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395728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perguntas
respondidas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633472"/>
            <a:ext cx="1609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154680"/>
            <a:ext cx="16093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2286000"/>
            <a:ext cx="182880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2286000"/>
            <a:ext cx="182880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22208" y="2395728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modelo
preditivo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2633472"/>
            <a:ext cx="1609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AUC
0,907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3154680"/>
            <a:ext cx="16093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286000"/>
            <a:ext cx="1828800" cy="1371600"/>
          </a:xfrm>
          <a:prstGeom prst="rect">
            <a:avLst/>
          </a:prstGeom>
          <a:solidFill>
            <a:srgbClr val="1B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424160" y="2286000"/>
            <a:ext cx="1828800" cy="7315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33888" y="2395728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etapas de
validação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33888" y="2633472"/>
            <a:ext cx="1609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33888" y="3154680"/>
            <a:ext cx="16093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D6E0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3035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CD6E0"/>
                </a:solidFill>
              </a:rPr>
              <a:t>Passos Mágicos · passosmagicos.org.br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76072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</a:rPr>
              <a:t>"Transformar a vida de crianças e jovens através da educação"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